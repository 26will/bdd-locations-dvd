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D7325-AC37-449C-8704-FA2C5E8AB94F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E005D-2F9C-49A7-A8B2-290851E3A4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38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D0E71B-445D-4D9B-9C7A-A51FB1C48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A4E5AE-500A-41E5-B84B-0C46D7E6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3AC20B-50E4-4B21-8A94-5B87E500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00814-16A2-4B14-8828-7FCC83853C9E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A23367-858E-4599-A33C-BD58AB38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DC0F23-E55F-476F-8479-AAC194A7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93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60AB42-BA9C-451A-8F44-8427ED9D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92E6A4-0C9D-4457-9BA2-252472B7B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1437DC-D518-4086-9FA9-83A6A11F3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C9751-60E7-4AD2-B56D-4CD3B275E7DF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020C4D-F6F0-434B-B58A-F0D80EBC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262740-CB89-49C4-A05F-056941D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118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69862-748F-4649-A2F4-D430544D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FDDC74-9874-466F-BA8E-2FD80BB55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035256-0C7B-4BFA-9810-B185E369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52E5E-374C-4509-A6D9-81C987D7D5A3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D28FA6-F9B3-4608-871B-53443F30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E86E20-FA9D-4E78-A95A-AA62ECD6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77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ABFD3-739A-434F-9684-0A2A8D09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901BEE-4FEE-4103-BFA2-FD1E39C28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0ACEB6-EDA1-4784-B3B6-376E4237A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313911-BD7F-4297-B28D-CEB6B1B4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B641F-2157-4391-89D8-F64D1A3A82F4}" type="datetime1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CAC6E0-56AB-46CB-A594-A5DACA1E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D06D76-FBF4-405D-82D3-6D74F943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3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17B14-E03F-4009-8BA8-F1405BDC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4F80F6-90EA-4014-9146-A682F6836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3B45F2-6694-4A4E-B3EE-3D0355C2A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D06AE2F-82D1-4C7E-80D6-E87D43927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67A962-7DDE-49FB-94AC-06782DE0A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CB7FFC9-BF78-46C4-B128-BCC7E003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9855-C55D-4E0D-A5A7-EB02D649F8F2}" type="datetime1">
              <a:rPr lang="fr-FR" smtClean="0"/>
              <a:t>14/01/2026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640389-FD2E-4AAD-AFC2-D2C2F41F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F5A954-5145-465E-AA03-F49B5695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03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F3F49-B10D-42FF-BBBA-C3197F8A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B515E0D-9DD8-4649-940C-44441336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F13-378F-44EA-930B-6198CF1A85A2}" type="datetime1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4659749-209E-4F7D-93FB-18334FDF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5A2F76-26A5-4460-ABFC-12425DC2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654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C2F028C-F361-46DA-A0E3-D9CF8DFE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3EB5-7848-41B8-AE69-FFA9904DD927}" type="datetime1">
              <a:rPr lang="fr-FR" smtClean="0"/>
              <a:t>14/01/2026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AA48F4-6D83-4E20-9D54-7000EEC8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8F5BA0-8075-4556-B9BB-A0CC78CD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56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CFA85E-BC0D-45B8-8765-837B7BC5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B9CC9A-A9FC-4C09-9FA4-367504D8B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1EB58-9128-4FB2-834A-C651E4ACF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5F30F0-90F3-4497-AF94-63352558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532D0-7D01-43B3-A262-76C2F20EE413}" type="datetime1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A006F9-BB78-4A13-A88C-8286E774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E10978-FB38-417F-97F0-8C76A190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78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7910BF-B9C9-4EEB-B03B-87C4EDF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7F31A9-DF97-49B4-B7EE-C42F477A8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E1B7F3-E1AB-4767-934C-AB12EC03C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BEAB05-0E0B-427C-8915-C16D053E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8F0C-88B4-4883-9ACA-B2188ECCA52A}" type="datetime1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AC03B1-C543-40BA-AC12-07BC6E13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AD493D-7DB3-41BE-9682-AFCE5610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80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C2D66-A889-4BE9-951E-2B622922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585F15-2899-4CD3-BC22-E6802DCD2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8F4C6-082D-4931-91C9-5E3B23E3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FFD8E-4D6A-4C34-87B8-A92F5CF29E66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331ED4-0112-47E1-8A51-0B46C11D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5A4F6-9155-4992-A133-4951F738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24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F18FA3-11EC-4199-85AB-B69A05663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265258-31A2-471B-8398-75B1B6BA1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54FBCB-BC5C-4AC6-8637-1EB29D3B4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58BB-3F29-4E1C-9968-F9B9FC0DD619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772F1B-87C7-4114-86F0-45AE87208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D6FA8-6F86-4716-AD08-2F7DCEBD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40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B463DF5-0D81-4FF2-BF7B-528A46AE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B92223-ECFD-4E11-A0AD-DBEFBAC3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18512C-C1AA-4BB7-BACE-698C5F85C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C1B78-112B-4158-8967-26B41D56954C}" type="datetime1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356CE2-9956-4C5F-814D-20FE7BE4D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C35566-2FE2-4BB6-AD28-94422F0B4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D53B6-D057-4AA4-84C2-4CCB97C649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42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xjollois.github.io/donnees/sakila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romuald.zami@u-paris.f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hyperlink" Target="mailto:amine.meddour@u-paris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>
            <a:extLst>
              <a:ext uri="{FF2B5EF4-FFF2-40B4-BE49-F238E27FC236}">
                <a16:creationId xmlns:a16="http://schemas.microsoft.com/office/drawing/2014/main" id="{F9DBF0E7-1E37-419D-9A4E-88BE60FB854C}"/>
              </a:ext>
            </a:extLst>
          </p:cNvPr>
          <p:cNvSpPr/>
          <p:nvPr/>
        </p:nvSpPr>
        <p:spPr>
          <a:xfrm>
            <a:off x="0" y="-5099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E2903C-3701-4C31-A911-1556C554F525}"/>
              </a:ext>
            </a:extLst>
          </p:cNvPr>
          <p:cNvSpPr txBox="1"/>
          <p:nvPr/>
        </p:nvSpPr>
        <p:spPr>
          <a:xfrm>
            <a:off x="7571873" y="673768"/>
            <a:ext cx="29998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SAE</a:t>
            </a:r>
          </a:p>
          <a:p>
            <a:pPr algn="ctr"/>
            <a:r>
              <a:rPr lang="fr-FR" sz="4800" b="1" dirty="0">
                <a:solidFill>
                  <a:schemeClr val="bg1"/>
                </a:solidFill>
              </a:rPr>
              <a:t>2025-2026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38A45E4-19B5-4C72-A85B-699B855F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9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9" y="457200"/>
            <a:ext cx="3932237" cy="530225"/>
          </a:xfrm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 Contexte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EE6AB99-87B4-46EF-AB29-08FF34E19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563" r="2131"/>
          <a:stretch/>
        </p:blipFill>
        <p:spPr>
          <a:xfrm>
            <a:off x="6335487" y="0"/>
            <a:ext cx="5856514" cy="6819570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79C17E-7056-41A5-B547-6D21C6BF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679" y="1397330"/>
            <a:ext cx="5675807" cy="4656715"/>
          </a:xfrm>
        </p:spPr>
        <p:txBody>
          <a:bodyPr>
            <a:normAutofit fontScale="92500" lnSpcReduction="10000"/>
          </a:bodyPr>
          <a:lstStyle/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Avec le développement des sites de streaming, les loueurs de DVD ont totalement disparu.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Votre idée ? Créer un espace ou les gens choisirons leur DVD « comme autrefois » et s’installerons dans une petite salle avec lecteur DVD pour le regarder ! Ils pourront prendre des boissons et à manger pour accompagner ce moment !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Vous récupérez les données d’un loueur de DVD de 2005. Vous analyserez ces données pour vous en inspirer ! Ces données vous donnerons quelques pistes :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La vision Clients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La vision Locations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Les catégories de films</a:t>
            </a:r>
          </a:p>
          <a:p>
            <a:pPr>
              <a:buClr>
                <a:schemeClr val="accent2"/>
              </a:buClr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A partir de vos analyses, quelles sont vos préconisation sur les question suivantes :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Dans quelle zone s’implanter ?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Quel est le montant moyen dépensé par client et par location ?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Faut-il privilégier des jours et / ou horaires d’ouverture ?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243C54A-0B15-48F8-B0FC-2C992FC7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61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9" y="822960"/>
            <a:ext cx="3932237" cy="530225"/>
          </a:xfrm>
        </p:spPr>
        <p:txBody>
          <a:bodyPr>
            <a:no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Catégorie de films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79C17E-7056-41A5-B547-6D21C6BF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679" y="1466402"/>
            <a:ext cx="5512521" cy="1914701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Dans cette partie, on souhaite à minima le nombre de locations.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On pourra potentiellement faire une analyse par catégorie et super-catégorie de films.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Par ailleurs, l’identification des films qui n’ont pas généré de locations peut-être intéressante. En effet, le futur gérant souhaite proposer des films dit « anciens » susceptibles d’intéresser la clientèle.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314ADA7B-F9BE-4CBE-9AC0-B2981E8CEE48}"/>
              </a:ext>
            </a:extLst>
          </p:cNvPr>
          <p:cNvSpPr txBox="1">
            <a:spLocks/>
          </p:cNvSpPr>
          <p:nvPr/>
        </p:nvSpPr>
        <p:spPr>
          <a:xfrm>
            <a:off x="659679" y="3765844"/>
            <a:ext cx="3932237" cy="530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chemeClr val="bg1"/>
                </a:solidFill>
              </a:rPr>
              <a:t>Vision clients</a:t>
            </a:r>
          </a:p>
        </p:txBody>
      </p:sp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316352B6-A9E5-4B01-BEC1-0BFA274DD3D5}"/>
              </a:ext>
            </a:extLst>
          </p:cNvPr>
          <p:cNvSpPr txBox="1">
            <a:spLocks/>
          </p:cNvSpPr>
          <p:nvPr/>
        </p:nvSpPr>
        <p:spPr>
          <a:xfrm>
            <a:off x="659679" y="4296069"/>
            <a:ext cx="5512521" cy="191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Les plus représentés en terme de nombre de locations, montant total dépensé en location et date de la première location client.</a:t>
            </a:r>
          </a:p>
        </p:txBody>
      </p:sp>
      <p:sp>
        <p:nvSpPr>
          <p:cNvPr id="9" name="Titre 3">
            <a:extLst>
              <a:ext uri="{FF2B5EF4-FFF2-40B4-BE49-F238E27FC236}">
                <a16:creationId xmlns:a16="http://schemas.microsoft.com/office/drawing/2014/main" id="{0F69A319-B8C6-49F5-ACC4-8CA20966410F}"/>
              </a:ext>
            </a:extLst>
          </p:cNvPr>
          <p:cNvSpPr txBox="1">
            <a:spLocks/>
          </p:cNvSpPr>
          <p:nvPr/>
        </p:nvSpPr>
        <p:spPr>
          <a:xfrm>
            <a:off x="6610052" y="1973468"/>
            <a:ext cx="3932237" cy="530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chemeClr val="bg1"/>
                </a:solidFill>
              </a:rPr>
              <a:t>Vision locations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5C14CD44-24BF-4CF1-AC0E-FE60F82AD88B}"/>
              </a:ext>
            </a:extLst>
          </p:cNvPr>
          <p:cNvSpPr txBox="1">
            <a:spLocks/>
          </p:cNvSpPr>
          <p:nvPr/>
        </p:nvSpPr>
        <p:spPr>
          <a:xfrm>
            <a:off x="6466119" y="2503693"/>
            <a:ext cx="5512521" cy="191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Existe-t-il un jour de la semaine qui se démarque en terme de nombre de locations ? On affichera les jours de la semaine en libellé.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Est-ce qu’une période de la journée est plus propice à la location ? Pour répondre à cette question, vous pourrez vous aider des référentiels fournis.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4BD513-D3D2-4646-90E4-40890CDA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29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457200"/>
            <a:ext cx="3932237" cy="530225"/>
          </a:xfrm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Les Données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CA99A17C-1B86-4072-ABCA-29F5D749A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9413" y="2222052"/>
            <a:ext cx="5259388" cy="2762698"/>
          </a:xfrm>
        </p:spPr>
        <p:txBody>
          <a:bodyPr>
            <a:noAutofit/>
          </a:bodyPr>
          <a:lstStyle/>
          <a:p>
            <a:r>
              <a:rPr lang="fr-FR" sz="2400" dirty="0">
                <a:solidFill>
                  <a:schemeClr val="bg1">
                    <a:lumMod val="65000"/>
                  </a:schemeClr>
                </a:solidFill>
              </a:rPr>
              <a:t>Pour réaliser votre analyse, vous vous appuyer sur les données d’un loueur de DVD disponibles sur ce lien :</a:t>
            </a:r>
          </a:p>
          <a:p>
            <a:endParaRPr lang="fr-FR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ts val="22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sng" strike="noStrike" kern="1200" cap="none" spc="18" normalizeH="0" baseline="0" noProof="0" dirty="0">
                <a:ln>
                  <a:noFill/>
                </a:ln>
                <a:solidFill>
                  <a:srgbClr val="B57001"/>
                </a:solidFill>
                <a:effectLst/>
                <a:uLnTx/>
                <a:uFillTx/>
                <a:latin typeface="QCNTHT+Arial"/>
                <a:ea typeface="+mn-ea"/>
                <a:cs typeface="QCNTHT+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https://fxjollois.github.io/donnees/sakila/</a:t>
            </a:r>
          </a:p>
          <a:p>
            <a:endParaRPr lang="fr-FR" sz="2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fr-FR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sp>
        <p:nvSpPr>
          <p:cNvPr id="20" name="object 1">
            <a:extLst>
              <a:ext uri="{FF2B5EF4-FFF2-40B4-BE49-F238E27FC236}">
                <a16:creationId xmlns:a16="http://schemas.microsoft.com/office/drawing/2014/main" id="{DD4A1975-B57E-49BE-9EDA-9D40C0910D60}"/>
              </a:ext>
            </a:extLst>
          </p:cNvPr>
          <p:cNvSpPr/>
          <p:nvPr/>
        </p:nvSpPr>
        <p:spPr>
          <a:xfrm>
            <a:off x="5439833" y="1134534"/>
            <a:ext cx="6688667" cy="4532842"/>
          </a:xfrm>
          <a:prstGeom prst="rect">
            <a:avLst/>
          </a:prstGeom>
          <a:blipFill>
            <a:blip r:embed="rId3" cstate="print"/>
            <a:stretch>
              <a:fillRect l="-92023" t="-34684" r="-2344" b="-27478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ED3ADBE0-EBB8-4162-BC6F-515108C4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D53B6-D057-4AA4-84C2-4CCB97C6495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90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>
            <a:extLst>
              <a:ext uri="{FF2B5EF4-FFF2-40B4-BE49-F238E27FC236}">
                <a16:creationId xmlns:a16="http://schemas.microsoft.com/office/drawing/2014/main" id="{11FD1627-3F28-45C7-94F5-99A64EB352A4}"/>
              </a:ext>
            </a:extLst>
          </p:cNvPr>
          <p:cNvSpPr/>
          <p:nvPr/>
        </p:nvSpPr>
        <p:spPr>
          <a:xfrm>
            <a:off x="0" y="-47897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881" y="639792"/>
            <a:ext cx="3932237" cy="530225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</a:rPr>
              <a:t>Livrables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79C17E-7056-41A5-B547-6D21C6BF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49880" y="1766266"/>
            <a:ext cx="2827020" cy="2409494"/>
          </a:xfrm>
        </p:spPr>
        <p:txBody>
          <a:bodyPr>
            <a:noAutofit/>
          </a:bodyPr>
          <a:lstStyle/>
          <a:p>
            <a:r>
              <a:rPr lang="fr-FR" sz="1600" b="1" dirty="0">
                <a:solidFill>
                  <a:srgbClr val="000000"/>
                </a:solidFill>
                <a:latin typeface="QCNTHT+Arial"/>
                <a:cs typeface="QCNTHT+Arial"/>
              </a:rPr>
              <a:t>La/ les</a:t>
            </a:r>
            <a:r>
              <a:rPr lang="fr-FR" sz="1600" b="1" spc="-12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600" b="1" dirty="0">
                <a:solidFill>
                  <a:srgbClr val="000000"/>
                </a:solidFill>
                <a:latin typeface="QCNTHT+Arial"/>
                <a:cs typeface="QCNTHT+Arial"/>
              </a:rPr>
              <a:t>requêtes</a:t>
            </a:r>
            <a:r>
              <a:rPr lang="fr-FR" sz="1600" b="1" spc="-22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600" b="1" dirty="0">
                <a:solidFill>
                  <a:srgbClr val="000000"/>
                </a:solidFill>
                <a:latin typeface="QCNTHT+Arial"/>
                <a:cs typeface="QCNTHT+Arial"/>
              </a:rPr>
              <a:t>SQL</a:t>
            </a:r>
          </a:p>
          <a:p>
            <a:endParaRPr lang="fr-FR" dirty="0">
              <a:solidFill>
                <a:schemeClr val="bg1">
                  <a:lumMod val="65000"/>
                </a:schemeClr>
              </a:solidFill>
            </a:endParaRPr>
          </a:p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JNKJIP+Arial"/>
                <a:cs typeface="JNKJIP+Arial"/>
              </a:rPr>
              <a:t>Vous travaillez</a:t>
            </a:r>
            <a:r>
              <a:rPr lang="fr-FR" sz="1200" spc="18" dirty="0">
                <a:solidFill>
                  <a:srgbClr val="000000"/>
                </a:solidFill>
                <a:latin typeface="JNKJIP+Arial"/>
                <a:cs typeface="JNKJIP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JNKJIP+Arial"/>
                <a:cs typeface="JNKJIP+Arial"/>
              </a:rPr>
              <a:t>d’abord les données en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JNKJIP+Arial"/>
                <a:cs typeface="JNKJIP+Arial"/>
              </a:rPr>
              <a:t>SQL afin</a:t>
            </a:r>
            <a:r>
              <a:rPr lang="fr-FR" sz="1200" spc="-22" dirty="0">
                <a:solidFill>
                  <a:srgbClr val="000000"/>
                </a:solidFill>
                <a:latin typeface="JNKJIP+Arial"/>
                <a:cs typeface="JNKJIP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JNKJIP+Arial"/>
                <a:cs typeface="JNKJIP+Arial"/>
              </a:rPr>
              <a:t>d’extraire seulement</a:t>
            </a:r>
            <a:r>
              <a:rPr lang="fr-FR" sz="1200" spc="-14" dirty="0">
                <a:solidFill>
                  <a:srgbClr val="000000"/>
                </a:solidFill>
                <a:latin typeface="JNKJIP+Arial"/>
                <a:cs typeface="JNKJIP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JNKJIP+Arial"/>
                <a:cs typeface="JNKJIP+Arial"/>
              </a:rPr>
              <a:t>ce dont</a:t>
            </a:r>
          </a:p>
          <a:p>
            <a:pPr marL="0" marR="0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vous</a:t>
            </a:r>
            <a:r>
              <a:rPr lang="fr-FR" sz="1200" spc="11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avec besoin pour faire</a:t>
            </a:r>
            <a:r>
              <a:rPr lang="fr-FR" sz="1200" spc="-22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votre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analyse.</a:t>
            </a:r>
          </a:p>
          <a:p>
            <a:endParaRPr lang="fr-FR" sz="1200" dirty="0">
              <a:solidFill>
                <a:schemeClr val="bg1">
                  <a:lumMod val="65000"/>
                </a:schemeClr>
              </a:solidFill>
            </a:endParaRPr>
          </a:p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Vos requêtes</a:t>
            </a:r>
            <a:r>
              <a:rPr lang="fr-FR" sz="1200" spc="-21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sont</a:t>
            </a:r>
            <a:r>
              <a:rPr lang="fr-FR" sz="1200" spc="-13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à déposer en .SQL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sur </a:t>
            </a:r>
            <a:r>
              <a:rPr lang="fr-FR" sz="1200" dirty="0" err="1">
                <a:solidFill>
                  <a:srgbClr val="000000"/>
                </a:solidFill>
                <a:latin typeface="QCNTHT+Arial"/>
                <a:cs typeface="QCNTHT+Arial"/>
              </a:rPr>
              <a:t>moodle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.</a:t>
            </a:r>
            <a:r>
              <a:rPr lang="fr-FR" sz="1200" spc="-12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Nommer</a:t>
            </a:r>
            <a:r>
              <a:rPr lang="fr-FR" sz="1200" spc="-17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le :</a:t>
            </a:r>
          </a:p>
          <a:p>
            <a:r>
              <a:rPr lang="fr-FR" sz="1200" i="1" dirty="0">
                <a:solidFill>
                  <a:srgbClr val="000000"/>
                </a:solidFill>
                <a:latin typeface="MPRVKB+Arial Italic"/>
                <a:cs typeface="MPRVKB+Arial Italic"/>
              </a:rPr>
              <a:t>Requêtes </a:t>
            </a:r>
            <a:r>
              <a:rPr lang="fr-FR" sz="1200" i="1" dirty="0">
                <a:solidFill>
                  <a:srgbClr val="000000"/>
                </a:solidFill>
                <a:latin typeface="GISNOA+Arial Italic"/>
                <a:cs typeface="GISNOA+Arial Italic"/>
              </a:rPr>
              <a:t>–</a:t>
            </a:r>
            <a:r>
              <a:rPr lang="fr-FR" sz="1200" i="1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fr-FR" sz="1200" i="1" dirty="0">
                <a:solidFill>
                  <a:srgbClr val="000000"/>
                </a:solidFill>
                <a:latin typeface="MPRVKB+Arial Italic"/>
                <a:cs typeface="MPRVKB+Arial Italic"/>
              </a:rPr>
              <a:t>NOM1 NOM2 NOM3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5D21ECD2-D3E5-4032-8831-047BDD3A2727}"/>
              </a:ext>
            </a:extLst>
          </p:cNvPr>
          <p:cNvSpPr txBox="1">
            <a:spLocks/>
          </p:cNvSpPr>
          <p:nvPr/>
        </p:nvSpPr>
        <p:spPr>
          <a:xfrm>
            <a:off x="6195060" y="1751026"/>
            <a:ext cx="2827020" cy="24247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0000"/>
                </a:solidFill>
                <a:latin typeface="QCNTHT+Arial"/>
                <a:cs typeface="QCNTHT+Arial"/>
              </a:rPr>
              <a:t>Le </a:t>
            </a:r>
            <a:r>
              <a:rPr lang="fr-FR" b="1" dirty="0" err="1">
                <a:solidFill>
                  <a:srgbClr val="000000"/>
                </a:solidFill>
                <a:latin typeface="QCNTHT+Arial"/>
                <a:cs typeface="QCNTHT+Arial"/>
              </a:rPr>
              <a:t>reporting</a:t>
            </a:r>
            <a:r>
              <a:rPr lang="fr-FR" b="1" dirty="0">
                <a:solidFill>
                  <a:srgbClr val="000000"/>
                </a:solidFill>
                <a:latin typeface="QCNTHT+Arial"/>
                <a:cs typeface="QCNTHT+Arial"/>
              </a:rPr>
              <a:t> Excel</a:t>
            </a:r>
          </a:p>
          <a:p>
            <a:endParaRPr lang="fr-FR" dirty="0">
              <a:solidFill>
                <a:schemeClr val="bg1">
                  <a:lumMod val="65000"/>
                </a:schemeClr>
              </a:solidFill>
            </a:endParaRPr>
          </a:p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Vous réalisez ensuite votre analyse</a:t>
            </a:r>
            <a:r>
              <a:rPr lang="fr-FR" sz="1200" spc="20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en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Excel.</a:t>
            </a:r>
            <a:r>
              <a:rPr lang="fr-FR" sz="1200" spc="324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(Cf.</a:t>
            </a:r>
            <a:r>
              <a:rPr lang="fr-FR" sz="1200" spc="-31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Slide « Exemple</a:t>
            </a:r>
            <a:r>
              <a:rPr lang="fr-FR" sz="1200" spc="19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de</a:t>
            </a:r>
            <a:r>
              <a:rPr lang="fr-FR" sz="1200" spc="-12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livrable</a:t>
            </a:r>
          </a:p>
          <a:p>
            <a:pPr marL="0" marR="0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Excel</a:t>
            </a:r>
            <a:r>
              <a:rPr lang="fr-FR" sz="1200" spc="14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»)</a:t>
            </a:r>
          </a:p>
          <a:p>
            <a:endParaRPr lang="fr-FR" sz="1200" dirty="0">
              <a:solidFill>
                <a:schemeClr val="bg1">
                  <a:lumMod val="65000"/>
                </a:schemeClr>
              </a:solidFill>
            </a:endParaRPr>
          </a:p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Le fichier</a:t>
            </a:r>
            <a:r>
              <a:rPr lang="fr-FR" sz="1200" spc="-16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Excel</a:t>
            </a:r>
            <a:r>
              <a:rPr lang="fr-FR" sz="1200" spc="13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est à déposer sur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r>
              <a:rPr lang="fr-FR" sz="1200" dirty="0" err="1">
                <a:solidFill>
                  <a:srgbClr val="000000"/>
                </a:solidFill>
                <a:latin typeface="QCNTHT+Arial"/>
                <a:cs typeface="QCNTHT+Arial"/>
              </a:rPr>
              <a:t>moodle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. Nommer</a:t>
            </a:r>
            <a:r>
              <a:rPr lang="fr-FR" sz="1200" spc="-17" dirty="0">
                <a:solidFill>
                  <a:srgbClr val="000000"/>
                </a:solidFill>
                <a:latin typeface="QCNTHT+Arial"/>
                <a:cs typeface="QCNTHT+Arial"/>
              </a:rPr>
              <a:t> </a:t>
            </a:r>
            <a:r>
              <a:rPr lang="fr-FR" sz="1200" dirty="0">
                <a:solidFill>
                  <a:srgbClr val="000000"/>
                </a:solidFill>
                <a:latin typeface="QCNTHT+Arial"/>
                <a:cs typeface="QCNTHT+Arial"/>
              </a:rPr>
              <a:t>le :</a:t>
            </a:r>
          </a:p>
          <a:p>
            <a:pPr marL="0" marR="0">
              <a:lnSpc>
                <a:spcPts val="1139"/>
              </a:lnSpc>
              <a:spcBef>
                <a:spcPts val="50"/>
              </a:spcBef>
              <a:spcAft>
                <a:spcPts val="0"/>
              </a:spcAft>
            </a:pPr>
            <a:endParaRPr lang="fr-FR" sz="1200" dirty="0">
              <a:solidFill>
                <a:srgbClr val="000000"/>
              </a:solidFill>
              <a:latin typeface="QCNTHT+Arial"/>
              <a:cs typeface="QCNTHT+Arial"/>
            </a:endParaRPr>
          </a:p>
          <a:p>
            <a:pPr marL="0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i="1" dirty="0" err="1">
                <a:solidFill>
                  <a:srgbClr val="000000"/>
                </a:solidFill>
                <a:latin typeface="MPRVKB+Arial Italic"/>
                <a:cs typeface="MPRVKB+Arial Italic"/>
              </a:rPr>
              <a:t>Reporting</a:t>
            </a:r>
            <a:r>
              <a:rPr lang="fr-FR" sz="1200" i="1" dirty="0">
                <a:solidFill>
                  <a:srgbClr val="000000"/>
                </a:solidFill>
                <a:latin typeface="MPRVKB+Arial Italic"/>
                <a:cs typeface="MPRVKB+Arial Italic"/>
              </a:rPr>
              <a:t> </a:t>
            </a:r>
            <a:r>
              <a:rPr lang="fr-FR" sz="1200" i="1" dirty="0">
                <a:solidFill>
                  <a:srgbClr val="000000"/>
                </a:solidFill>
                <a:latin typeface="GISNOA+Arial Italic"/>
                <a:cs typeface="GISNOA+Arial Italic"/>
              </a:rPr>
              <a:t>–</a:t>
            </a:r>
            <a:r>
              <a:rPr lang="fr-FR" sz="1200" i="1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fr-FR" sz="1200" i="1" dirty="0">
                <a:solidFill>
                  <a:srgbClr val="000000"/>
                </a:solidFill>
                <a:latin typeface="MPRVKB+Arial Italic"/>
                <a:cs typeface="MPRVKB+Arial Italic"/>
              </a:rPr>
              <a:t>NOM1 NOM2 NOM3</a:t>
            </a:r>
          </a:p>
          <a:p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E8EC2B3-80AC-4EB7-B69C-525B7D91009C}"/>
              </a:ext>
            </a:extLst>
          </p:cNvPr>
          <p:cNvSpPr txBox="1"/>
          <p:nvPr/>
        </p:nvSpPr>
        <p:spPr>
          <a:xfrm>
            <a:off x="2581021" y="5093969"/>
            <a:ext cx="4646559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LNCDQU+Arial Bold"/>
                <a:cs typeface="LNCDQU+Arial Bold"/>
              </a:rPr>
              <a:t>Délai</a:t>
            </a:r>
            <a:r>
              <a:rPr sz="1400" b="1" spc="-23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400" b="1" dirty="0">
                <a:solidFill>
                  <a:srgbClr val="FFFFFF"/>
                </a:solidFill>
                <a:latin typeface="SBJRKC+Arial Bold"/>
                <a:cs typeface="SBJRKC+Arial Bold"/>
              </a:rPr>
              <a:t>– 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Documents</a:t>
            </a:r>
            <a:r>
              <a:rPr sz="1400" spc="-32" dirty="0">
                <a:solidFill>
                  <a:srgbClr val="FFFFFF"/>
                </a:solidFill>
                <a:latin typeface="QCNTHT+Arial"/>
                <a:cs typeface="QCNTHT+Arial"/>
              </a:rPr>
              <a:t> 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à envoyer</a:t>
            </a:r>
            <a:r>
              <a:rPr sz="1400" spc="13" dirty="0">
                <a:solidFill>
                  <a:srgbClr val="FFFFFF"/>
                </a:solidFill>
                <a:latin typeface="QCNTHT+Arial"/>
                <a:cs typeface="QCNTHT+Arial"/>
              </a:rPr>
              <a:t> 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avant le</a:t>
            </a:r>
            <a:r>
              <a:rPr sz="1400" spc="-17" dirty="0">
                <a:solidFill>
                  <a:srgbClr val="FFFFFF"/>
                </a:solidFill>
                <a:latin typeface="QCNTHT+Arial"/>
                <a:cs typeface="QCNTHT+Arial"/>
              </a:rPr>
              <a:t> 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1</a:t>
            </a:r>
            <a:r>
              <a:rPr lang="fr-FR" sz="1400" dirty="0">
                <a:solidFill>
                  <a:srgbClr val="FFFFFF"/>
                </a:solidFill>
                <a:latin typeface="QCNTHT+Arial"/>
                <a:cs typeface="QCNTHT+Arial"/>
              </a:rPr>
              <a:t>6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/01/202</a:t>
            </a:r>
            <a:r>
              <a:rPr lang="fr-FR" sz="1400" dirty="0">
                <a:solidFill>
                  <a:srgbClr val="FFFFFF"/>
                </a:solidFill>
                <a:latin typeface="QCNTHT+Arial"/>
                <a:cs typeface="QCNTHT+Arial"/>
              </a:rPr>
              <a:t>6 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à 2</a:t>
            </a:r>
            <a:r>
              <a:rPr lang="fr-FR" sz="1400" dirty="0">
                <a:solidFill>
                  <a:srgbClr val="FFFFFF"/>
                </a:solidFill>
                <a:latin typeface="QCNTHT+Arial"/>
                <a:cs typeface="QCNTHT+Arial"/>
              </a:rPr>
              <a:t>3</a:t>
            </a:r>
            <a:r>
              <a:rPr sz="1400" dirty="0">
                <a:solidFill>
                  <a:srgbClr val="FFFFFF"/>
                </a:solidFill>
                <a:latin typeface="QCNTHT+Arial"/>
                <a:cs typeface="QCNTHT+Arial"/>
              </a:rPr>
              <a:t>h.</a:t>
            </a: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52025CD7-D267-450A-99E2-45CF82B67A83}"/>
              </a:ext>
            </a:extLst>
          </p:cNvPr>
          <p:cNvSpPr txBox="1"/>
          <p:nvPr/>
        </p:nvSpPr>
        <p:spPr>
          <a:xfrm>
            <a:off x="2581021" y="5524038"/>
            <a:ext cx="6717379" cy="2645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Attention</a:t>
            </a:r>
            <a:r>
              <a:rPr sz="1600" b="1" u="sng" spc="73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:</a:t>
            </a:r>
            <a:r>
              <a:rPr sz="1600" b="1" u="sng" spc="-52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spc="-16" dirty="0">
                <a:solidFill>
                  <a:srgbClr val="FFFFFF"/>
                </a:solidFill>
                <a:latin typeface="LNCDQU+Arial Bold"/>
                <a:cs typeface="LNCDQU+Arial Bold"/>
              </a:rPr>
              <a:t>Aucun</a:t>
            </a:r>
            <a:r>
              <a:rPr sz="1600" b="1" u="sng" spc="73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Rapport</a:t>
            </a:r>
            <a:r>
              <a:rPr sz="1600" b="1" u="sng" spc="22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spc="-13" dirty="0">
                <a:solidFill>
                  <a:srgbClr val="FFFFFF"/>
                </a:solidFill>
                <a:latin typeface="LNCDQU+Arial Bold"/>
                <a:cs typeface="LNCDQU+Arial Bold"/>
              </a:rPr>
              <a:t>envoyé</a:t>
            </a:r>
            <a:r>
              <a:rPr sz="1600" b="1" u="sng" spc="73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après</a:t>
            </a:r>
            <a:r>
              <a:rPr sz="1600" b="1" u="sng" spc="15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cet horaire</a:t>
            </a:r>
            <a:r>
              <a:rPr sz="1600" b="1" u="sng" spc="24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ne sera</a:t>
            </a:r>
            <a:r>
              <a:rPr sz="1600" b="1" u="sng" spc="16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u="sng" dirty="0">
                <a:solidFill>
                  <a:srgbClr val="FFFFFF"/>
                </a:solidFill>
                <a:latin typeface="LNCDQU+Arial Bold"/>
                <a:cs typeface="LNCDQU+Arial Bold"/>
              </a:rPr>
              <a:t>accepté</a:t>
            </a:r>
          </a:p>
        </p:txBody>
      </p:sp>
    </p:spTree>
    <p:extLst>
      <p:ext uri="{BB962C8B-B14F-4D97-AF65-F5344CB8AC3E}">
        <p14:creationId xmlns:p14="http://schemas.microsoft.com/office/powerpoint/2010/main" val="310851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>
            <a:extLst>
              <a:ext uri="{FF2B5EF4-FFF2-40B4-BE49-F238E27FC236}">
                <a16:creationId xmlns:a16="http://schemas.microsoft.com/office/drawing/2014/main" id="{0E0F9B82-50D0-4004-A906-103D875EEF9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081" y="639792"/>
            <a:ext cx="5598319" cy="558706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</a:rPr>
              <a:t>Exemple de livrable SQL</a:t>
            </a:r>
          </a:p>
        </p:txBody>
      </p:sp>
    </p:spTree>
    <p:extLst>
      <p:ext uri="{BB962C8B-B14F-4D97-AF65-F5344CB8AC3E}">
        <p14:creationId xmlns:p14="http://schemas.microsoft.com/office/powerpoint/2010/main" val="360069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>
            <a:extLst>
              <a:ext uri="{FF2B5EF4-FFF2-40B4-BE49-F238E27FC236}">
                <a16:creationId xmlns:a16="http://schemas.microsoft.com/office/drawing/2014/main" id="{AA0F8FEB-FCC7-458F-A8E5-14D9B2A1C62D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081" y="639792"/>
            <a:ext cx="5598319" cy="558706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>
                <a:solidFill>
                  <a:schemeClr val="bg1"/>
                </a:solidFill>
              </a:rPr>
              <a:t>Exemple de livrable Excel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DA517E5-02AC-4F05-9CF6-9A015E35778A}"/>
              </a:ext>
            </a:extLst>
          </p:cNvPr>
          <p:cNvSpPr txBox="1"/>
          <p:nvPr/>
        </p:nvSpPr>
        <p:spPr>
          <a:xfrm>
            <a:off x="5328539" y="6426578"/>
            <a:ext cx="1083963" cy="362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39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Un onglet</a:t>
            </a:r>
            <a:r>
              <a:rPr sz="1100" b="1" spc="-16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par</a:t>
            </a:r>
          </a:p>
          <a:p>
            <a:pPr marL="0" marR="0">
              <a:lnSpc>
                <a:spcPts val="1233"/>
              </a:lnSpc>
              <a:spcBef>
                <a:spcPts val="136"/>
              </a:spcBef>
              <a:spcAft>
                <a:spcPts val="0"/>
              </a:spcAft>
            </a:pPr>
            <a:r>
              <a:rPr sz="1100" b="1" spc="-18" dirty="0">
                <a:solidFill>
                  <a:srgbClr val="FFFFFF"/>
                </a:solidFill>
                <a:latin typeface="SBJRKC+Arial Bold"/>
                <a:cs typeface="SBJRKC+Arial Bold"/>
              </a:rPr>
              <a:t>Axe</a:t>
            </a:r>
            <a:r>
              <a:rPr sz="1100" b="1" spc="58" dirty="0">
                <a:solidFill>
                  <a:srgbClr val="FFFFFF"/>
                </a:solidFill>
                <a:latin typeface="SBJRKC+Arial Bold"/>
                <a:cs typeface="SBJRKC+Arial Bold"/>
              </a:rPr>
              <a:t> </a:t>
            </a:r>
            <a:r>
              <a:rPr sz="1100" b="1" dirty="0">
                <a:solidFill>
                  <a:srgbClr val="FFFFFF"/>
                </a:solidFill>
                <a:latin typeface="SBJRKC+Arial Bold"/>
                <a:cs typeface="SBJRKC+Arial Bold"/>
              </a:rPr>
              <a:t>d’analyse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0ED9D19A-8FAC-43ED-AEDC-E47CA5B07FCB}"/>
              </a:ext>
            </a:extLst>
          </p:cNvPr>
          <p:cNvSpPr txBox="1"/>
          <p:nvPr/>
        </p:nvSpPr>
        <p:spPr>
          <a:xfrm>
            <a:off x="2651760" y="4253126"/>
            <a:ext cx="1784101" cy="5084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-23" dirty="0">
                <a:solidFill>
                  <a:srgbClr val="FFFFFF"/>
                </a:solidFill>
                <a:latin typeface="LNCDQU+Arial Bold"/>
                <a:cs typeface="LNCDQU+Arial Bold"/>
              </a:rPr>
              <a:t>Tableau</a:t>
            </a:r>
            <a:r>
              <a:rPr sz="1600" b="1" spc="39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600" b="1" dirty="0">
                <a:solidFill>
                  <a:srgbClr val="FFFFFF"/>
                </a:solidFill>
                <a:latin typeface="LNCDQU+Arial Bold"/>
                <a:cs typeface="LNCDQU+Arial Bold"/>
              </a:rPr>
              <a:t>croisées</a:t>
            </a:r>
          </a:p>
          <a:p>
            <a:pPr marL="228600" marR="0">
              <a:lnSpc>
                <a:spcPts val="1785"/>
              </a:lnSpc>
              <a:spcBef>
                <a:spcPts val="134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LNCDQU+Arial Bold"/>
                <a:cs typeface="LNCDQU+Arial Bold"/>
              </a:rPr>
              <a:t>dynamiques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C15AF73-5B1A-44EB-A087-71A45626A688}"/>
              </a:ext>
            </a:extLst>
          </p:cNvPr>
          <p:cNvSpPr txBox="1"/>
          <p:nvPr/>
        </p:nvSpPr>
        <p:spPr>
          <a:xfrm>
            <a:off x="796137" y="6120863"/>
            <a:ext cx="1451670" cy="530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76" marR="0">
              <a:lnSpc>
                <a:spcPts val="123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Un onglet</a:t>
            </a:r>
            <a:r>
              <a:rPr sz="1100" b="1" spc="-16" dirty="0">
                <a:solidFill>
                  <a:srgbClr val="FFFFFF"/>
                </a:solidFill>
                <a:latin typeface="LNCDQU+Arial Bold"/>
                <a:cs typeface="LNCDQU+Arial Bold"/>
              </a:rPr>
              <a:t> </a:t>
            </a: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avec les</a:t>
            </a:r>
          </a:p>
          <a:p>
            <a:pPr marL="0" marR="0">
              <a:lnSpc>
                <a:spcPts val="1233"/>
              </a:lnSpc>
              <a:spcBef>
                <a:spcPts val="136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données travaillées</a:t>
            </a:r>
          </a:p>
          <a:p>
            <a:pPr marL="405688" marR="0">
              <a:lnSpc>
                <a:spcPts val="1233"/>
              </a:lnSpc>
              <a:spcBef>
                <a:spcPts val="86"/>
              </a:spcBef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LNCDQU+Arial Bold"/>
                <a:cs typeface="LNCDQU+Arial Bold"/>
              </a:rPr>
              <a:t>en SQL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F2E7467B-5E62-4B65-86E3-3224BF86D873}"/>
              </a:ext>
            </a:extLst>
          </p:cNvPr>
          <p:cNvSpPr txBox="1"/>
          <p:nvPr/>
        </p:nvSpPr>
        <p:spPr>
          <a:xfrm>
            <a:off x="7605394" y="3769805"/>
            <a:ext cx="142367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NCDQU+Arial Bold"/>
                <a:cs typeface="LNCDQU+Arial Bold"/>
              </a:rPr>
              <a:t>Graphiques</a:t>
            </a:r>
          </a:p>
        </p:txBody>
      </p:sp>
    </p:spTree>
    <p:extLst>
      <p:ext uri="{BB962C8B-B14F-4D97-AF65-F5344CB8AC3E}">
        <p14:creationId xmlns:p14="http://schemas.microsoft.com/office/powerpoint/2010/main" val="361648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>
            <a:extLst>
              <a:ext uri="{FF2B5EF4-FFF2-40B4-BE49-F238E27FC236}">
                <a16:creationId xmlns:a16="http://schemas.microsoft.com/office/drawing/2014/main" id="{81A3C670-C134-46FF-8DE3-48145BD9F7BB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B820EF5-289C-4CC1-A083-1F2005BE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79" y="468089"/>
            <a:ext cx="3932237" cy="530225"/>
          </a:xfrm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Contacts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79C17E-7056-41A5-B547-6D21C6BF0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9679" y="1466402"/>
            <a:ext cx="5512521" cy="2764939"/>
          </a:xfrm>
        </p:spPr>
        <p:txBody>
          <a:bodyPr>
            <a:noAutofit/>
          </a:bodyPr>
          <a:lstStyle/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Romuald ZAMI</a:t>
            </a:r>
          </a:p>
          <a:p>
            <a:r>
              <a:rPr lang="fr-FR" dirty="0">
                <a:solidFill>
                  <a:schemeClr val="bg1"/>
                </a:solidFill>
                <a:hlinkClick r:id="rId3"/>
              </a:rPr>
              <a:t>romuald.zami@u-paris.fr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Amine MEDDOUR</a:t>
            </a:r>
          </a:p>
          <a:p>
            <a:r>
              <a:rPr lang="fr-FR" dirty="0">
                <a:solidFill>
                  <a:schemeClr val="bg1"/>
                </a:solidFill>
                <a:hlinkClick r:id="rId4"/>
              </a:rPr>
              <a:t>amine.meddour@u-paris.fr</a:t>
            </a:r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3569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480</Words>
  <Application>Microsoft Office PowerPoint</Application>
  <PresentationFormat>Grand écran</PresentationFormat>
  <Paragraphs>77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9" baseType="lpstr">
      <vt:lpstr>Arial</vt:lpstr>
      <vt:lpstr>Calibri</vt:lpstr>
      <vt:lpstr>Calibri Light</vt:lpstr>
      <vt:lpstr>GISNOA+Arial Italic</vt:lpstr>
      <vt:lpstr>JNKJIP+Arial</vt:lpstr>
      <vt:lpstr>LNCDQU+Arial Bold</vt:lpstr>
      <vt:lpstr>MPRVKB+Arial Italic</vt:lpstr>
      <vt:lpstr>QCNTHT+Arial</vt:lpstr>
      <vt:lpstr>SBJRKC+Arial Bold</vt:lpstr>
      <vt:lpstr>Times New Roman</vt:lpstr>
      <vt:lpstr>Thème Office</vt:lpstr>
      <vt:lpstr>Présentation PowerPoint</vt:lpstr>
      <vt:lpstr>Le Contexte</vt:lpstr>
      <vt:lpstr>Catégorie de films</vt:lpstr>
      <vt:lpstr>Les Données</vt:lpstr>
      <vt:lpstr>Livrables</vt:lpstr>
      <vt:lpstr>Exemple de livrable SQL</vt:lpstr>
      <vt:lpstr>Exemple de livrable Excel</vt:lpstr>
      <vt:lpstr>Contacts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Marie-Isabelle NIOULE</dc:creator>
  <cp:lastModifiedBy>amine meddour</cp:lastModifiedBy>
  <cp:revision>16</cp:revision>
  <dcterms:created xsi:type="dcterms:W3CDTF">2024-01-14T19:00:21Z</dcterms:created>
  <dcterms:modified xsi:type="dcterms:W3CDTF">2026-01-14T13:06:20Z</dcterms:modified>
</cp:coreProperties>
</file>